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9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446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41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2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27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46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49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51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86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06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337C099-3AF5-4FB7-9569-69C200A259F5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B6025E-1B17-489E-A797-9671733EF8E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18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8FDC29-5A4E-0A8A-EEB2-10692AF1EFC0}"/>
              </a:ext>
            </a:extLst>
          </p:cNvPr>
          <p:cNvSpPr txBox="1"/>
          <p:nvPr/>
        </p:nvSpPr>
        <p:spPr>
          <a:xfrm>
            <a:off x="311085" y="74744"/>
            <a:ext cx="11880915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Project Agenda</a:t>
            </a:r>
          </a:p>
          <a:p>
            <a:r>
              <a:rPr lang="en-IN" sz="2800" b="1" dirty="0"/>
              <a:t>Introduction:</a:t>
            </a:r>
          </a:p>
          <a:p>
            <a:endParaRPr lang="en-IN" sz="1600" b="1" dirty="0"/>
          </a:p>
          <a:p>
            <a:r>
              <a:rPr lang="en-IN" sz="2000" dirty="0"/>
              <a:t>Before diving into data, we must ask: </a:t>
            </a:r>
            <a:r>
              <a:rPr lang="en-IN" sz="2000" b="1" dirty="0"/>
              <a:t>What truly drives salary differences in the Data Science industry?</a:t>
            </a:r>
          </a:p>
          <a:p>
            <a:r>
              <a:rPr lang="en-IN" sz="2000" dirty="0"/>
              <a:t>This Exploratory Data Analysis (EDA) of the </a:t>
            </a:r>
            <a:r>
              <a:rPr lang="en-IN" sz="2000" b="1" dirty="0"/>
              <a:t>Data</a:t>
            </a:r>
            <a:r>
              <a:rPr lang="en-IN" sz="2000" dirty="0"/>
              <a:t> </a:t>
            </a:r>
            <a:r>
              <a:rPr lang="en-IN" sz="2000" b="1" dirty="0"/>
              <a:t>Sciences</a:t>
            </a:r>
            <a:r>
              <a:rPr lang="en-IN" sz="2000" dirty="0"/>
              <a:t> Salaries Dataset goes far beyond basic averages.</a:t>
            </a:r>
          </a:p>
          <a:p>
            <a:r>
              <a:rPr lang="en-IN" sz="2000" dirty="0"/>
              <a:t>Our goal is </a:t>
            </a:r>
            <a:r>
              <a:rPr lang="en-US" sz="2000" dirty="0"/>
              <a:t>to understand the shifting global compensation patterns shaped by</a:t>
            </a:r>
            <a:r>
              <a:rPr lang="en-IN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Experience level and skill maturity.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Job roles such as Data Scientist, AI Engineer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Company size and industry domain.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Remote work ratio and global workforce changes.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Geographical location remains the most powerful salary driver.</a:t>
            </a:r>
          </a:p>
          <a:p>
            <a:r>
              <a:rPr lang="en-IN" sz="2000" dirty="0"/>
              <a:t>Through this analysis, we aim to uncover the hidden correlations and strongest predictors of a data professional’s earning potential, helping both aspiring and experienced professionals understand where the industry is heading. Job roles such as Data Scientist, AI Engineer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A87A8D-87DF-B3FD-0E76-B5D8AB8D3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70" y="4964374"/>
            <a:ext cx="5459691" cy="155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29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AA3CA1-1CEB-6A3B-23FA-491B74D48141}"/>
              </a:ext>
            </a:extLst>
          </p:cNvPr>
          <p:cNvSpPr txBox="1"/>
          <p:nvPr/>
        </p:nvSpPr>
        <p:spPr>
          <a:xfrm>
            <a:off x="235671" y="0"/>
            <a:ext cx="1195633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                                	     Analytical Objective </a:t>
            </a:r>
          </a:p>
          <a:p>
            <a:r>
              <a:rPr lang="en-IN" sz="2400" b="1" dirty="0"/>
              <a:t>Problem Statement: </a:t>
            </a:r>
          </a:p>
          <a:p>
            <a:endParaRPr lang="en-IN" sz="2000" b="1" dirty="0"/>
          </a:p>
          <a:p>
            <a:r>
              <a:rPr lang="en-IN" b="1" dirty="0"/>
              <a:t>The Salary Curve Insight: </a:t>
            </a:r>
            <a:r>
              <a:rPr lang="en-IN" dirty="0"/>
              <a:t>What does the Salary Distribution reveal about how earnings are spread across the industry? Are salaries heavily skewed toward the higher range, and how many outliers exist?</a:t>
            </a:r>
          </a:p>
          <a:p>
            <a:endParaRPr lang="en-IN" dirty="0"/>
          </a:p>
          <a:p>
            <a:r>
              <a:rPr lang="en-IN" b="1" dirty="0"/>
              <a:t>Experience-Pay Growth: </a:t>
            </a:r>
            <a:r>
              <a:rPr lang="en-IN" dirty="0"/>
              <a:t>How strongly does Experience Level impact salary? What is the exact salary jump from Entry Level to Mid, Senior, and Executive positions?</a:t>
            </a:r>
          </a:p>
          <a:p>
            <a:endParaRPr lang="en-IN" dirty="0"/>
          </a:p>
          <a:p>
            <a:r>
              <a:rPr lang="en-IN" b="1" dirty="0"/>
              <a:t>Company Size Effect: </a:t>
            </a:r>
            <a:r>
              <a:rPr lang="en-IN" dirty="0"/>
              <a:t>Do Large companies consistently pay more than Medium and Small firms? How does salary variability differ across company sizes?</a:t>
            </a:r>
          </a:p>
          <a:p>
            <a:endParaRPr lang="en-IN" dirty="0"/>
          </a:p>
          <a:p>
            <a:r>
              <a:rPr lang="en-IN" b="1" dirty="0"/>
              <a:t>Remote Work Dynamics:</a:t>
            </a:r>
            <a:r>
              <a:rPr lang="en-IN" dirty="0"/>
              <a:t> How is the Remote Ratio distributed across the workforce? Does working fully remote or hybrid influence earning potential?</a:t>
            </a:r>
          </a:p>
          <a:p>
            <a:endParaRPr lang="en-IN" dirty="0"/>
          </a:p>
          <a:p>
            <a:r>
              <a:rPr lang="en-IN" b="1" dirty="0"/>
              <a:t>Correlation Reality Check: </a:t>
            </a:r>
            <a:r>
              <a:rPr lang="en-IN" dirty="0"/>
              <a:t>Which factors show the strongest correlation with Salary in USD, Experience Level, Company Size, or Remote Ratio? Are there negative or weak correlations? </a:t>
            </a:r>
          </a:p>
          <a:p>
            <a:endParaRPr lang="en-IN" dirty="0"/>
          </a:p>
          <a:p>
            <a:r>
              <a:rPr lang="en-US" b="1" dirty="0"/>
              <a:t>Hiring Patterns Across Experience Levels: </a:t>
            </a:r>
            <a:r>
              <a:rPr lang="en-US" dirty="0"/>
              <a:t>Which company size hires the most Entry, Mid, Senior, or Executive-level professionals? Do medium-sized companies dominate senior-level hiring?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425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CF6E3-B313-3D10-58EA-90200BE69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78" y="1282045"/>
            <a:ext cx="6947554" cy="50881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3E6B0D-F661-CB8A-DB6D-FD3C4BABB86F}"/>
              </a:ext>
            </a:extLst>
          </p:cNvPr>
          <p:cNvSpPr txBox="1"/>
          <p:nvPr/>
        </p:nvSpPr>
        <p:spPr>
          <a:xfrm>
            <a:off x="273378" y="195449"/>
            <a:ext cx="11717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Salary Distribution &amp; Outlier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F42C5-CA7B-3CD2-E50B-3696CFA65E22}"/>
              </a:ext>
            </a:extLst>
          </p:cNvPr>
          <p:cNvSpPr txBox="1"/>
          <p:nvPr/>
        </p:nvSpPr>
        <p:spPr>
          <a:xfrm>
            <a:off x="7673419" y="1706249"/>
            <a:ext cx="386499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/>
              <a:t>Insights:</a:t>
            </a:r>
          </a:p>
          <a:p>
            <a:pPr algn="just">
              <a:buNone/>
            </a:pPr>
            <a:endParaRPr lang="en-US" sz="2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Salaries Are Right-Skewed:</a:t>
            </a:r>
          </a:p>
          <a:p>
            <a:pPr algn="just">
              <a:buNone/>
            </a:pPr>
            <a:r>
              <a:rPr lang="en-US" dirty="0"/>
              <a:t>Most professionals earn between $80K–$170K, with fewer high-earners at the top.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 Median Around $140K:</a:t>
            </a:r>
          </a:p>
          <a:p>
            <a:pPr algn="just">
              <a:buNone/>
            </a:pPr>
            <a:r>
              <a:rPr lang="en-US" dirty="0"/>
              <a:t>The boxplot shows a stable central salary cluster near the median $140K.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 Many High-End Outliers:</a:t>
            </a:r>
          </a:p>
          <a:p>
            <a:pPr algn="just">
              <a:buNone/>
            </a:pPr>
            <a:r>
              <a:rPr lang="en-US" dirty="0"/>
              <a:t>Several salaries above $250K indicate specialized and senior-level roles.</a:t>
            </a:r>
          </a:p>
        </p:txBody>
      </p:sp>
    </p:spTree>
    <p:extLst>
      <p:ext uri="{BB962C8B-B14F-4D97-AF65-F5344CB8AC3E}">
        <p14:creationId xmlns:p14="http://schemas.microsoft.com/office/powerpoint/2010/main" val="139323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C63A1A-E03E-80ED-5330-0A1F5A22C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07" y="1304265"/>
            <a:ext cx="5577918" cy="50056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4EE777-3615-57DF-842C-EC45AA81CB61}"/>
              </a:ext>
            </a:extLst>
          </p:cNvPr>
          <p:cNvSpPr txBox="1"/>
          <p:nvPr/>
        </p:nvSpPr>
        <p:spPr>
          <a:xfrm>
            <a:off x="246668" y="192936"/>
            <a:ext cx="11698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Salary Growth by Experience Level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F22E41-17AB-5B12-9AF9-1A72D60789F2}"/>
              </a:ext>
            </a:extLst>
          </p:cNvPr>
          <p:cNvSpPr txBox="1"/>
          <p:nvPr/>
        </p:nvSpPr>
        <p:spPr>
          <a:xfrm>
            <a:off x="6928702" y="1637257"/>
            <a:ext cx="456257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/>
              <a:t>Insights:</a:t>
            </a:r>
          </a:p>
          <a:p>
            <a:pPr algn="just">
              <a:buNone/>
            </a:pPr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 Executive-Level Earns the Highest:</a:t>
            </a:r>
          </a:p>
          <a:p>
            <a:pPr algn="just">
              <a:buNone/>
            </a:pPr>
            <a:r>
              <a:rPr lang="en-US" dirty="0"/>
              <a:t>Executive professionals earn close to $200K, the highest across all experience groups.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Strong Salary Jump After Entry Level:</a:t>
            </a:r>
          </a:p>
          <a:p>
            <a:pPr algn="just">
              <a:buNone/>
            </a:pPr>
            <a:r>
              <a:rPr lang="en-US" dirty="0"/>
              <a:t>Salary increases sharply from Entry (~$80K) to Mid Level (~$105K), showing fast early-career growth.</a:t>
            </a:r>
          </a:p>
          <a:p>
            <a:pPr algn="just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Senior Roles Maintain High Pay:</a:t>
            </a:r>
          </a:p>
          <a:p>
            <a:pPr>
              <a:buNone/>
            </a:pPr>
            <a:r>
              <a:rPr lang="en-US" dirty="0"/>
              <a:t>Senior-level salaries reach around $155K, confirming steady upward growth with experience.</a:t>
            </a:r>
          </a:p>
        </p:txBody>
      </p:sp>
    </p:spTree>
    <p:extLst>
      <p:ext uri="{BB962C8B-B14F-4D97-AF65-F5344CB8AC3E}">
        <p14:creationId xmlns:p14="http://schemas.microsoft.com/office/powerpoint/2010/main" val="402120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0A13E4-BD6C-777B-A0BD-FC5AE48C4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54" y="1300900"/>
            <a:ext cx="6193432" cy="49962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7A63F-AEEB-AFAD-602A-9CC4C892E171}"/>
              </a:ext>
            </a:extLst>
          </p:cNvPr>
          <p:cNvSpPr txBox="1"/>
          <p:nvPr/>
        </p:nvSpPr>
        <p:spPr>
          <a:xfrm>
            <a:off x="152400" y="12641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Salary Variation Across Company Sizes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DDE64-4E0A-F34C-3F27-ECF8F81685D8}"/>
              </a:ext>
            </a:extLst>
          </p:cNvPr>
          <p:cNvSpPr txBox="1"/>
          <p:nvPr/>
        </p:nvSpPr>
        <p:spPr>
          <a:xfrm>
            <a:off x="6975834" y="1630836"/>
            <a:ext cx="506376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Insights: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Large Companies Show Higher Median Salaries:</a:t>
            </a:r>
          </a:p>
          <a:p>
            <a:pPr>
              <a:buNone/>
            </a:pPr>
            <a:r>
              <a:rPr lang="en-US" dirty="0"/>
              <a:t>Large organizations offer the highest median pay, indicating stronger compensation structures.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Small Companies Have Wider Variability:</a:t>
            </a:r>
          </a:p>
          <a:p>
            <a:pPr>
              <a:buNone/>
            </a:pPr>
            <a:r>
              <a:rPr lang="en-US" dirty="0"/>
              <a:t>Smaller firms show greater salary spread, meaning pay can range from very low to unexpectedly high depending on the role.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Medium Companies Offer Stable Salaries:</a:t>
            </a:r>
          </a:p>
          <a:p>
            <a:pPr>
              <a:buNone/>
            </a:pPr>
            <a:r>
              <a:rPr lang="en-US" dirty="0"/>
              <a:t>Medium-sized companies display balanced and consistent salary ranges, with fewer extremes compared to small companies.</a:t>
            </a:r>
          </a:p>
        </p:txBody>
      </p:sp>
    </p:spTree>
    <p:extLst>
      <p:ext uri="{BB962C8B-B14F-4D97-AF65-F5344CB8AC3E}">
        <p14:creationId xmlns:p14="http://schemas.microsoft.com/office/powerpoint/2010/main" val="206846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2F3857-4F43-3445-45D7-1629A927E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29" y="1385741"/>
            <a:ext cx="5771847" cy="50554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9D7AF2-A181-D4FC-13F1-5AFFFB9C6959}"/>
              </a:ext>
            </a:extLst>
          </p:cNvPr>
          <p:cNvSpPr txBox="1"/>
          <p:nvPr/>
        </p:nvSpPr>
        <p:spPr>
          <a:xfrm>
            <a:off x="-150829" y="173552"/>
            <a:ext cx="118589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Remote Work Ratio Breakdown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48B53-E27C-ED8D-D40E-47BA92706EC0}"/>
              </a:ext>
            </a:extLst>
          </p:cNvPr>
          <p:cNvSpPr txBox="1"/>
          <p:nvPr/>
        </p:nvSpPr>
        <p:spPr>
          <a:xfrm>
            <a:off x="6636843" y="1705938"/>
            <a:ext cx="533519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/>
              <a:t>Insights:</a:t>
            </a:r>
          </a:p>
          <a:p>
            <a:pPr algn="just">
              <a:buNone/>
            </a:pPr>
            <a:endParaRPr lang="en-US" sz="2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 Majority Roles Are On-Site:</a:t>
            </a:r>
          </a:p>
          <a:p>
            <a:pPr algn="just">
              <a:buNone/>
            </a:pPr>
            <a:r>
              <a:rPr lang="en-US" dirty="0"/>
              <a:t>Over </a:t>
            </a:r>
            <a:r>
              <a:rPr lang="en-US" b="1" dirty="0"/>
              <a:t>51%</a:t>
            </a:r>
            <a:r>
              <a:rPr lang="en-US" dirty="0"/>
              <a:t> of the workforce operates fully on-site, showing that many companies still prefer physical presence.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 Strong Remote Workforce:</a:t>
            </a:r>
          </a:p>
          <a:p>
            <a:pPr algn="just">
              <a:buNone/>
            </a:pPr>
            <a:r>
              <a:rPr lang="en-US" dirty="0"/>
              <a:t>Almost </a:t>
            </a:r>
            <a:r>
              <a:rPr lang="en-US" b="1" dirty="0"/>
              <a:t>44%</a:t>
            </a:r>
            <a:r>
              <a:rPr lang="en-US" dirty="0"/>
              <a:t> of roles are fully remote, highlighting the growing acceptance of remote data roles worldwide.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Hybrid Work Is Minimal:</a:t>
            </a:r>
          </a:p>
          <a:p>
            <a:pPr algn="just">
              <a:buNone/>
            </a:pPr>
            <a:r>
              <a:rPr lang="en-US" dirty="0"/>
              <a:t>Only </a:t>
            </a:r>
            <a:r>
              <a:rPr lang="en-US" b="1" dirty="0"/>
              <a:t>5%</a:t>
            </a:r>
            <a:r>
              <a:rPr lang="en-US" dirty="0"/>
              <a:t> of jobs fall under hybrid mode, indicating that companies either prefer full office or full remote setups rather than mixed arrangements.</a:t>
            </a:r>
          </a:p>
        </p:txBody>
      </p:sp>
    </p:spTree>
    <p:extLst>
      <p:ext uri="{BB962C8B-B14F-4D97-AF65-F5344CB8AC3E}">
        <p14:creationId xmlns:p14="http://schemas.microsoft.com/office/powerpoint/2010/main" val="3588098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A38588-7BE4-426D-61E7-0EA63C967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0" y="1244339"/>
            <a:ext cx="5890475" cy="51708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CD00A-88F1-6C49-62FE-2C8DCBD1156F}"/>
              </a:ext>
            </a:extLst>
          </p:cNvPr>
          <p:cNvSpPr txBox="1"/>
          <p:nvPr/>
        </p:nvSpPr>
        <p:spPr>
          <a:xfrm>
            <a:off x="166540" y="0"/>
            <a:ext cx="118589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Correlation Insights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F3F4E-7E0E-AFE3-89F1-DC40F34E1EA4}"/>
              </a:ext>
            </a:extLst>
          </p:cNvPr>
          <p:cNvSpPr txBox="1"/>
          <p:nvPr/>
        </p:nvSpPr>
        <p:spPr>
          <a:xfrm>
            <a:off x="6551629" y="1385740"/>
            <a:ext cx="547383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Insights: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Experience Has a Mild Positive Impact:</a:t>
            </a:r>
          </a:p>
          <a:p>
            <a:pPr>
              <a:buNone/>
            </a:pPr>
            <a:r>
              <a:rPr lang="en-US" dirty="0"/>
              <a:t>Experience Level shows a small positive correlation with salary (</a:t>
            </a:r>
            <a:r>
              <a:rPr lang="en-US" b="1" dirty="0"/>
              <a:t>0.23</a:t>
            </a:r>
            <a:r>
              <a:rPr lang="en-US" dirty="0"/>
              <a:t>), indicating that higher experience generally leads to better pay.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Remote Work Shows Slight Negative Relation:</a:t>
            </a:r>
          </a:p>
          <a:p>
            <a:pPr>
              <a:buNone/>
            </a:pPr>
            <a:r>
              <a:rPr lang="en-US" dirty="0"/>
              <a:t>Remote Ratio has a mild negative correlation (</a:t>
            </a:r>
            <a:r>
              <a:rPr lang="en-US" b="1" dirty="0"/>
              <a:t>–0.24</a:t>
            </a:r>
            <a:r>
              <a:rPr lang="en-US" dirty="0"/>
              <a:t>) with salary, suggesting that fully remote roles may pay slightly less on average.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Salary Currency &amp; Location Have Minimal Effect:</a:t>
            </a:r>
          </a:p>
          <a:p>
            <a:pPr>
              <a:buNone/>
            </a:pPr>
            <a:r>
              <a:rPr lang="en-US" dirty="0"/>
              <a:t>Salary currency and employee/company location show </a:t>
            </a:r>
            <a:r>
              <a:rPr lang="en-US" b="1" dirty="0"/>
              <a:t>very weak correlations</a:t>
            </a:r>
            <a:r>
              <a:rPr lang="en-US" dirty="0"/>
              <a:t>, meaning location factors don’t strongly influence salary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156314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97FE6-8813-580D-4F1B-E4F6D4F74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50" y="1544086"/>
            <a:ext cx="5826968" cy="46474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D7E872-91DD-99E9-D0A6-85C6C2192FD8}"/>
              </a:ext>
            </a:extLst>
          </p:cNvPr>
          <p:cNvSpPr txBox="1"/>
          <p:nvPr/>
        </p:nvSpPr>
        <p:spPr>
          <a:xfrm>
            <a:off x="-84842" y="159889"/>
            <a:ext cx="117238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Hiring Trends by Experience Level Across Company Sizes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931CE-3889-81C3-302A-CBC8760547C4}"/>
              </a:ext>
            </a:extLst>
          </p:cNvPr>
          <p:cNvSpPr txBox="1"/>
          <p:nvPr/>
        </p:nvSpPr>
        <p:spPr>
          <a:xfrm>
            <a:off x="6711885" y="1544086"/>
            <a:ext cx="5297862" cy="4790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/>
              <a:t>Insights:</a:t>
            </a:r>
          </a:p>
          <a:p>
            <a:pPr algn="just">
              <a:buNone/>
            </a:pPr>
            <a:endParaRPr lang="en-US" sz="2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Medium Companies Hire the Most:</a:t>
            </a:r>
          </a:p>
          <a:p>
            <a:pPr algn="just">
              <a:buNone/>
            </a:pPr>
            <a:r>
              <a:rPr lang="en-US" dirty="0"/>
              <a:t>Medium-sized companies dominate hiring across all experience levels — especially </a:t>
            </a:r>
            <a:r>
              <a:rPr lang="en-US" b="1" dirty="0"/>
              <a:t>Senior Level</a:t>
            </a:r>
            <a:r>
              <a:rPr lang="en-US" dirty="0"/>
              <a:t>, where counts exceed </a:t>
            </a:r>
            <a:r>
              <a:rPr lang="en-US" b="1" dirty="0"/>
              <a:t>2,200+</a:t>
            </a:r>
            <a:r>
              <a:rPr lang="en-US" dirty="0"/>
              <a:t>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Large Companies Prefer Experienced Talent:</a:t>
            </a:r>
          </a:p>
          <a:p>
            <a:pPr algn="just">
              <a:buNone/>
            </a:pPr>
            <a:r>
              <a:rPr lang="en-US" dirty="0"/>
              <a:t>Large firms hire more </a:t>
            </a:r>
            <a:r>
              <a:rPr lang="en-US" b="1" dirty="0"/>
              <a:t>Senior </a:t>
            </a:r>
            <a:r>
              <a:rPr lang="en-US" dirty="0"/>
              <a:t>and</a:t>
            </a:r>
            <a:r>
              <a:rPr lang="en-US" b="1" dirty="0"/>
              <a:t> Mid-Level</a:t>
            </a:r>
            <a:r>
              <a:rPr lang="en-US" dirty="0"/>
              <a:t> professionals compared to Entry Level, indicating a preference toward skilled candidates.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Small Companies Maintain Low Hiring Volume:</a:t>
            </a:r>
          </a:p>
          <a:p>
            <a:pPr algn="just">
              <a:buNone/>
            </a:pPr>
            <a:r>
              <a:rPr lang="en-US" dirty="0"/>
              <a:t>Small companies show consistently low hiring numbers across all experience levels, reflecting limited workforce size or tighter budgets.</a:t>
            </a:r>
          </a:p>
        </p:txBody>
      </p:sp>
    </p:spTree>
    <p:extLst>
      <p:ext uri="{BB962C8B-B14F-4D97-AF65-F5344CB8AC3E}">
        <p14:creationId xmlns:p14="http://schemas.microsoft.com/office/powerpoint/2010/main" val="24234147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139</TotalTime>
  <Words>805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Rushi Thorat</dc:creator>
  <cp:lastModifiedBy>Rushi Thorat</cp:lastModifiedBy>
  <cp:revision>3</cp:revision>
  <dcterms:created xsi:type="dcterms:W3CDTF">2025-12-02T08:50:59Z</dcterms:created>
  <dcterms:modified xsi:type="dcterms:W3CDTF">2025-12-02T11:13:57Z</dcterms:modified>
</cp:coreProperties>
</file>